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19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4" y="1606209"/>
            <a:ext cx="7190286" cy="49526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6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Blue Ocean Market Gap Analysis</a:t>
            </a:r>
            <a:endParaRPr lang="en-US" sz="3600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1523" y="2481542"/>
            <a:ext cx="842962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Identifying High-Protein Low-Sugar Opportunities in the Global Food Market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71524" y="3397902"/>
            <a:ext cx="8429625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14375" y="2950718"/>
            <a:ext cx="8429625" cy="7144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4375" y="3005266"/>
            <a:ext cx="8429625" cy="56117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Project: Business Analytics Strategy
Prepared for: Strategic Growth Division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403F0-0085-BF6A-5632-451781ED90CF}"/>
              </a:ext>
            </a:extLst>
          </p:cNvPr>
          <p:cNvSpPr txBox="1"/>
          <p:nvPr/>
        </p:nvSpPr>
        <p:spPr>
          <a:xfrm>
            <a:off x="771524" y="3881534"/>
            <a:ext cx="5927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Garamond" panose="02020404030301010803" pitchFamily="18" charset="0"/>
              </a:rPr>
              <a:t>Presented by </a:t>
            </a:r>
            <a:r>
              <a:rPr lang="en-US" sz="1600" dirty="0">
                <a:solidFill>
                  <a:srgbClr val="FF0000"/>
                </a:solidFill>
                <a:latin typeface="Garamond" panose="02020404030301010803" pitchFamily="18" charset="0"/>
              </a:rPr>
              <a:t>:     </a:t>
            </a:r>
            <a:r>
              <a:rPr lang="en-US" sz="1600" b="1" dirty="0">
                <a:latin typeface="Garamond" panose="02020404030301010803" pitchFamily="18" charset="0"/>
              </a:rPr>
              <a:t>NIYIGENA Abdoul Razak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73DB4-871E-16B3-23D6-2964864C7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412" y="0"/>
            <a:ext cx="3239588" cy="809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0A45AD-AFB9-9087-396B-FC9602822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6604589" y="3243351"/>
            <a:ext cx="1082903" cy="10806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33F723-D8C2-D699-1297-85FBC270EDED}"/>
              </a:ext>
            </a:extLst>
          </p:cNvPr>
          <p:cNvSpPr txBox="1"/>
          <p:nvPr/>
        </p:nvSpPr>
        <p:spPr>
          <a:xfrm>
            <a:off x="6160451" y="4359921"/>
            <a:ext cx="197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“Scan QR Code“</a:t>
            </a:r>
          </a:p>
          <a:p>
            <a:pPr algn="ctr"/>
            <a:r>
              <a:rPr lang="en-US" sz="1200" dirty="0"/>
              <a:t>To access All Files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605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THE MODERN FOOD MARKET FACES A "SUGAR TRAP"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03421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The "Red Ocean" Reality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54583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840295"/>
            <a:ext cx="124957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Market Saturation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71500" y="2046427"/>
            <a:ext cx="4000500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The contemporary snack market is flooded with high-sugar, low-protein products. Most accessible consumer goods prioritize flavor and shelf-life over nutritional density.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37509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3671" y="3411521"/>
            <a:ext cx="194605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Health Implications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71500" y="3619631"/>
            <a:ext cx="3861197" cy="80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Saturated markets contribute to poor health outcomes. There is a structural mismatch between consumer health trends and available product nutritional profiles.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004197" y="1512971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Our Strategic Goal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197" y="1859359"/>
            <a:ext cx="160180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8509" y="1845071"/>
            <a:ext cx="239458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Blue Ocean Identification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004197" y="2132607"/>
            <a:ext cx="4000500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Identify underserved "Blue Ocean" segments—areas where high-protein and low-sugar products can thrive without the intense competition of traditional snack categories.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197" y="3344074"/>
            <a:ext cx="154602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8509" y="3329787"/>
            <a:ext cx="175286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Data-Driven Growth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004197" y="3617323"/>
            <a:ext cx="3861197" cy="80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Utilize global food data to map nutritional gaps and pinpoint specific categories ripe for innovation and healthy product development.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LEVERAGING THE OPEN FOOD FACTS GLOBAL DATABASE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0062" y="1446986"/>
            <a:ext cx="4286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Primary Source: Open Food Facts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9867" y="1776469"/>
            <a:ext cx="6097089" cy="903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Data was extracted from the Open Food Facts dataset, a collaborative global database of food products. Unfortunately to extracting &gt; 50,000 rows for me, it was challenge Because Google </a:t>
            </a:r>
            <a:r>
              <a:rPr lang="en-US" sz="1400" dirty="0" err="1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Colab</a:t>
            </a: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 keep crashing in the extracting Process.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3322646"/>
            <a:ext cx="2071688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0000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10,000</a:t>
            </a:r>
            <a:endParaRPr lang="en-US" sz="1800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99" y="3691323"/>
            <a:ext cx="2071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INITIAL PRODUCT SUBSET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79978" y="3322646"/>
            <a:ext cx="2071688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Global</a:t>
            </a:r>
            <a:endParaRPr lang="en-US" sz="18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79978" y="3692389"/>
            <a:ext cx="2071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GEOGRAPHIC COVERAGE</a:t>
            </a:r>
            <a:endParaRPr lang="en-US" sz="1200" dirty="0">
              <a:latin typeface="Garamond" panose="02020404030301010803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354639" y="1824045"/>
            <a:ext cx="1308483" cy="149540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37002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RIGOROUS DATA CLEANING ENSURES ANALYTICAL INTEGRITY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66686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PHASE 01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931017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Initial Filtration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499" y="2395361"/>
            <a:ext cx="2485209" cy="1911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Started with a raw subset of 10,000 product entries from the Open Food Facts database. Removed all records with missing protein or sugar values to ensure a complete nutritional profile for every data point.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31372" y="1566686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PHASE 02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431372" y="1931017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Standardization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31372" y="2395361"/>
            <a:ext cx="2281228" cy="1911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Converted all nutritional metrics into standardized numeric formats. Applied rigorous type conversion to handle inconsistent data entries and localized decimal variations across the global dataset.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91244" y="1566686"/>
            <a:ext cx="22812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PHASE 03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91244" y="1931017"/>
            <a:ext cx="22812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Anomaly Detection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91244" y="2395361"/>
            <a:ext cx="2281256" cy="163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Filtered out unrealistic values (e.g., nutritional content exceeding 100g per 100g). This step eliminated data entry errors that would otherwise skew the statistical percentiles.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91244" y="4417425"/>
            <a:ext cx="22812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3,050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91244" y="4652128"/>
            <a:ext cx="250659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REFINED VALID PRODUCTS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METHODOLOGY: DEFINING THE "BLUE OCEAN" SEGMENT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66686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HIGH PROTEIN THRESHOLD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864937"/>
            <a:ext cx="3568303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&gt; 18.56g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490015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Per 100g of product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99" y="2820042"/>
            <a:ext cx="3568303" cy="9805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This value represents the 75th percentile of the analyzed dataset, ensuring the segment targets the top tier of protein density.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04197" y="1566686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LOW SUGAR THRESHOLD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04197" y="1864937"/>
            <a:ext cx="3568303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&lt; 1.0g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04197" y="2490015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Per 100g of product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04196" y="2813041"/>
            <a:ext cx="3568303" cy="9805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This value represents the 25th percentile, identifying products with minimal added or natural sugars for a healthy profile.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4478138"/>
            <a:ext cx="128588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0531" y="4432952"/>
            <a:ext cx="5548908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Analysis includes category grouping: Meat, Snacks, Protein Products, Dairy, and Seafood.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VISUALIZING THE GAP: PROTEINS VS. SUGAR DISTRIBUTION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280936"/>
            <a:ext cx="5300663" cy="3371850"/>
          </a:xfrm>
          <a:prstGeom prst="rect">
            <a:avLst/>
          </a:prstGeom>
          <a:solidFill>
            <a:srgbClr val="FFFFFF"/>
          </a:solidFill>
          <a:ln w="9144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pic>
        <p:nvPicPr>
          <p:cNvPr id="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453" y="1280936"/>
            <a:ext cx="4806537" cy="30931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4424186"/>
            <a:ext cx="146193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Blue Ocean Segment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696379" y="4437342"/>
            <a:ext cx="235167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Market Saturation (Red Ocean)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43624" y="1364654"/>
            <a:ext cx="24288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Correlation Analysis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143623" y="1641639"/>
            <a:ext cx="2895874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The data reveals a clear inverse relationship: as sugar content increases, protein density typically drops, leaving the top-left quadrant underserved.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143625" y="3106603"/>
            <a:ext cx="24288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Market Structural Gap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43625" y="3392569"/>
            <a:ext cx="2797901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The density of products in the bottom-right highlights a saturated market competing on sugar-driven palatability rather than nutritional value.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9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DASHBOARD INSIGHTS: THE BLUE OCEAN BY THE NUMBERS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10968"/>
            <a:ext cx="2197826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kern="0" spc="1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TOTAL BLUE OCEAN PRODUCTS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2757" y="1840687"/>
            <a:ext cx="327013" cy="230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252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8616" y="2544852"/>
            <a:ext cx="2425841" cy="80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Specific product count meeting the strict high-protein (&gt;18g) and low-sugar (&lt;1g) criteria.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31372" y="1367117"/>
            <a:ext cx="214312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kern="0" spc="1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AVERAGE OF PROTEINS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92629" y="1840687"/>
            <a:ext cx="602729" cy="230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13.78g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13651" y="2544852"/>
            <a:ext cx="2668398" cy="80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Mean protein content across the validated dataset, indicating a lean towards nutritional density.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91244" y="1387235"/>
            <a:ext cx="20167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kern="0" spc="1" dirty="0">
                <a:solidFill>
                  <a:srgbClr val="6C757D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AVERAGE OF SUGARS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52501" y="1840687"/>
            <a:ext cx="511358" cy="230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0.46g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91244" y="2560931"/>
            <a:ext cx="2500059" cy="80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Extremely low average sugar content, confirming the "Blue Ocean" status of these products.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0" y="3699579"/>
            <a:ext cx="9144000" cy="4661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sz="1400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0" y="4248745"/>
            <a:ext cx="9144000" cy="7144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46" y="4453190"/>
            <a:ext cx="142875" cy="1428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9621" y="4411920"/>
            <a:ext cx="728662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VERIFIED METRICS: Analysis conducted using refined dataset from the Sugar Trap Market Gap Dashboard.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99" y="618353"/>
            <a:ext cx="8494123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CATEGORY PROFILE: AVERAGE PROTEIN CONTENT BY SEGMENT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84" y="1280935"/>
            <a:ext cx="5990116" cy="33694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15125" y="1373775"/>
            <a:ext cx="18573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Protein Leadership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435498" y="1663639"/>
            <a:ext cx="2559504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Specialized Protein Products lead with an average of ~68g per 100g, setting the benchmark for nutritional density in the market.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715125" y="3178040"/>
            <a:ext cx="18573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Emerging Categories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35499" y="3573298"/>
            <a:ext cx="2630124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Beverages and Snacks show significant protein potential, but currently lack the low-sugar profiles required for the Blue Ocean segment.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THE BIGGEST OPPORTUNITY LIES IN FUNCTIONAL HEALTHY SNACKS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7928" y="1614486"/>
            <a:ext cx="7143750" cy="413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While meat products naturally fulfill high-protein criteria, there is a </a:t>
            </a: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massive void</a:t>
            </a: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 in the functional snack category.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7928" y="2405355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C757D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CURRENT MARKET DOMINANCE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722712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Savory &amp; Specialized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3100379"/>
            <a:ext cx="3568303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High-protein, low-sugar profiles are currently synonymous with Meat Products and Specialized Supplements. These categories are reaching saturation with established players.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00625" y="2360320"/>
            <a:ext cx="3568303" cy="311034"/>
          </a:xfrm>
          <a:prstGeom prst="rect">
            <a:avLst/>
          </a:prstGeom>
          <a:solidFill>
            <a:srgbClr val="D9230F"/>
          </a:solidFill>
          <a:ln/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04197" y="2360319"/>
            <a:ext cx="3568303" cy="258404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STRATEGIC GAP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04197" y="2788041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On-the-Go Nutrition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00624" y="3139959"/>
            <a:ext cx="3568303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Consumer demand for "healthy snacks" is rising, yet only </a:t>
            </a:r>
            <a:r>
              <a:rPr lang="en-US" sz="1400" dirty="0">
                <a:solidFill>
                  <a:srgbClr val="D9230F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9 products</a:t>
            </a: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 in our dataset meet the Blue Ocean criteria. This represents the most viable path for mass-market innovation.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99" y="618353"/>
            <a:ext cx="8441871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STRATEGIC RECOMMENDATIONS FOR PRODUCT DEVELOPMENT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8" y="1408156"/>
            <a:ext cx="175022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3678" y="1436761"/>
            <a:ext cx="226099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Functional Food Innovation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499" y="1761336"/>
            <a:ext cx="3568303" cy="1442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Develop high-protein, low-sugar functional foods that bridge the gap between specialized medical supplements and everyday consumer snacks. Focus on nutrient density without compromising on taste profiles.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60465" y="3681803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STRATEGIC VALUE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71500" y="4029105"/>
            <a:ext cx="3568303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Establish brand authority in the emerging "Health-First" consumer segment.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1436761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11378" y="1457131"/>
            <a:ext cx="25485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Healthy Snack Transformation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049917" y="1793949"/>
            <a:ext cx="3568303" cy="1149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Innovate within the snack category to replicate the nutritional density of meat-based products. Target "on-the-go" formats that offer &gt;18g protein and &lt;1g sugar per serving.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857750" y="3684374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STRATEGIC VALUE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049916" y="4029105"/>
            <a:ext cx="3568303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Capture market share in the underrepresented high-protein snack Blue Ocean.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2087" y="571065"/>
            <a:ext cx="8650877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1" dirty="0">
                <a:solidFill>
                  <a:srgbClr val="212529"/>
                </a:solidFill>
                <a:latin typeface="Garamond" panose="02020404030301010803" pitchFamily="18" charset="0"/>
                <a:ea typeface="Inter Medium" pitchFamily="34" charset="-122"/>
                <a:cs typeface="Inter Medium" pitchFamily="34" charset="-120"/>
              </a:rPr>
              <a:t>CONCLUSION: DATA-DRIVEN INNOVATION IS THE PATH FORWARD</a:t>
            </a:r>
            <a:endParaRPr lang="en-US" sz="2000" b="1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7192" y="1121492"/>
            <a:ext cx="4079723" cy="57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400" b="1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The "Sugar Trap" is a real market phenomenon, leaving a clear opening for high-protein innovation in the global food landscape.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72716" y="1222738"/>
            <a:ext cx="339978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Validated Market Gap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97720" y="1392589"/>
            <a:ext cx="3769931" cy="45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Data confirms that only 8% of products meet the high-protein, low-sugar criteria, primarily in meat and supplements.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72717" y="2153820"/>
            <a:ext cx="339978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Strategic Opportunity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172717" y="2392086"/>
            <a:ext cx="3399783" cy="45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The functional snack category remains the most viable "Blue Ocean" for new product development.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172715" y="3143401"/>
            <a:ext cx="339978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529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Competitive Advantage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172717" y="3328067"/>
            <a:ext cx="3399783" cy="45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Garamond" panose="02020404030301010803" pitchFamily="18" charset="0"/>
                <a:ea typeface="Inter Light" pitchFamily="34" charset="-122"/>
                <a:cs typeface="Inter Light" pitchFamily="34" charset="-120"/>
              </a:rPr>
              <a:t>Early movers can establish brand authority by bridging the gap between health and convenience.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4643438"/>
            <a:ext cx="9144000" cy="3571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4643438"/>
            <a:ext cx="9144000" cy="7144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0" y="4536281"/>
            <a:ext cx="9144000" cy="357188"/>
          </a:xfrm>
          <a:prstGeom prst="rect">
            <a:avLst/>
          </a:prstGeom>
          <a:noFill/>
          <a:ln/>
        </p:spPr>
        <p:txBody>
          <a:bodyPr wrap="square" lIns="680339" tIns="170053" rIns="680339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D9230F"/>
                </a:solidFill>
                <a:latin typeface="Garamond" panose="02020404030301010803" pitchFamily="18" charset="0"/>
                <a:ea typeface="Inter Bold" pitchFamily="34" charset="-122"/>
                <a:cs typeface="Inter Bold" pitchFamily="34" charset="-120"/>
              </a:rPr>
              <a:t>MOVE BEYOND THE RED OCEAN. LEAD THE HEALTHY REVOLUTION.</a:t>
            </a:r>
            <a:endParaRPr lang="en-US" sz="1200" dirty="0">
              <a:latin typeface="Garamond" panose="020204040303010108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AC0562-FB3F-21C5-C68C-3E1342CC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37" t="17750" r="19781" b="8265"/>
          <a:stretch>
            <a:fillRect/>
          </a:stretch>
        </p:blipFill>
        <p:spPr>
          <a:xfrm>
            <a:off x="304184" y="1793651"/>
            <a:ext cx="4539343" cy="263516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936</Words>
  <Application>Microsoft Office PowerPoint</Application>
  <PresentationFormat>On-screen Show (16:9)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Abdoul Razak Niyigena</cp:lastModifiedBy>
  <cp:revision>22</cp:revision>
  <dcterms:created xsi:type="dcterms:W3CDTF">2026-04-26T20:46:26Z</dcterms:created>
  <dcterms:modified xsi:type="dcterms:W3CDTF">2026-04-26T22:07:47Z</dcterms:modified>
</cp:coreProperties>
</file>